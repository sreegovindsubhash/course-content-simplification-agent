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2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DAEEE28-9CAB-B108-843F-F0B955C653F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03FFE5E-D51A-B4F1-7E11-44A325E4CF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D5E96BB-FCFF-76B8-FAE4-BAC5B6A81A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0509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6B3F4CB-E7D1-6DE4-3C30-C3D395DF5BF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CD4A783-506D-5433-0E1C-5DB32B4D5F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36B2E37-D912-9F84-BF36-433B341312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10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526459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err="1"/>
                        <a:t>Sreegovind</a:t>
                      </a:r>
                      <a:br>
                        <a:rPr lang="en-IN" sz="2000" dirty="0"/>
                      </a:br>
                      <a:r>
                        <a:rPr lang="en-IN" sz="2000" dirty="0"/>
                        <a:t>Subhash</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Sreegovind13</a:t>
                      </a:r>
                    </a:p>
                    <a:p>
                      <a:pPr marL="0" marR="0" lvl="0" indent="0" algn="l" rtl="0">
                        <a:spcBef>
                          <a:spcPts val="0"/>
                        </a:spcBef>
                        <a:spcAft>
                          <a:spcPts val="0"/>
                        </a:spcAft>
                        <a:buNone/>
                      </a:pPr>
                      <a:r>
                        <a:rPr lang="en-IN" sz="2000" dirty="0"/>
                        <a:t>@gmail.com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8848859349</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t>AI-Powered Course Content Simplification Agent</a:t>
            </a:r>
            <a:endParaRPr lang="en-IN" sz="2400" b="1" dirty="0">
              <a:highlight>
                <a:srgbClr val="FFFF00"/>
              </a:highlight>
            </a:endParaRPr>
          </a:p>
        </p:txBody>
      </p:sp>
      <p:pic>
        <p:nvPicPr>
          <p:cNvPr id="5" name="Picture 4">
            <a:extLst>
              <a:ext uri="{FF2B5EF4-FFF2-40B4-BE49-F238E27FC236}">
                <a16:creationId xmlns:a16="http://schemas.microsoft.com/office/drawing/2014/main" id="{CF40E245-0746-E192-BBFB-2B4A82D367DD}"/>
              </a:ext>
            </a:extLst>
          </p:cNvPr>
          <p:cNvPicPr>
            <a:picLocks noChangeAspect="1"/>
          </p:cNvPicPr>
          <p:nvPr/>
        </p:nvPicPr>
        <p:blipFill>
          <a:blip r:embed="rId3"/>
          <a:stretch>
            <a:fillRect/>
          </a:stretch>
        </p:blipFill>
        <p:spPr>
          <a:xfrm>
            <a:off x="4030676" y="3683879"/>
            <a:ext cx="1038757" cy="108058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624429"/>
            <a:ext cx="10607040" cy="5693866"/>
          </a:xfrm>
          <a:prstGeom prst="rect">
            <a:avLst/>
          </a:prstGeom>
          <a:noFill/>
        </p:spPr>
        <p:txBody>
          <a:bodyPr wrap="square" rtlCol="0">
            <a:spAutoFit/>
          </a:bodyPr>
          <a:lstStyle/>
          <a:p>
            <a:pPr fontAlgn="base"/>
            <a:r>
              <a:rPr lang="en-US" b="1" dirty="0"/>
              <a:t>Problem Statement : Course Content Simplification Agent</a:t>
            </a:r>
          </a:p>
          <a:p>
            <a:pPr fontAlgn="base"/>
            <a:endParaRPr lang="en-US" b="1" dirty="0"/>
          </a:p>
          <a:p>
            <a:pPr fontAlgn="base"/>
            <a:r>
              <a:rPr lang="en-US" b="1" dirty="0"/>
              <a:t>The Challenge</a:t>
            </a:r>
          </a:p>
          <a:p>
            <a:pPr fontAlgn="base"/>
            <a:endParaRPr lang="en-US" b="1" dirty="0"/>
          </a:p>
          <a:p>
            <a:pPr fontAlgn="base"/>
            <a:r>
              <a:rPr lang="en-US" sz="1600" dirty="0"/>
              <a:t>Many students, especially first-generation learners and those from non-English-medium backgrounds, struggle to understand complex academic course material. Textbooks, research papers, and lecture notes often contain technical jargon and dense explanations, making it difficult for students to understand core concepts independently. This comprehension gap can lead to lower academic performance, reduced confidence, and unequal learning outcomes, particularly in under-resourced and rural educational institutions. There is a need for a solution that can automatically simplify educational content into clear and digestible formats suitable for diverse learners.</a:t>
            </a:r>
          </a:p>
          <a:p>
            <a:pPr fontAlgn="base"/>
            <a:endParaRPr lang="en-US" b="1" dirty="0"/>
          </a:p>
          <a:p>
            <a:pPr fontAlgn="base"/>
            <a:r>
              <a:rPr lang="en-US" b="1" dirty="0"/>
              <a:t>The Objective</a:t>
            </a:r>
          </a:p>
          <a:p>
            <a:pPr fontAlgn="base"/>
            <a:endParaRPr lang="en-US" b="1" dirty="0"/>
          </a:p>
          <a:p>
            <a:pPr fontAlgn="base"/>
            <a:r>
              <a:rPr lang="en-US" b="1" dirty="0"/>
              <a:t>Build an AI-powered Course Content Simplification Agent that transforms complex academic content into clear, easy-to-understand explanations based on the learner's proficiency level. The solution should:</a:t>
            </a:r>
          </a:p>
          <a:p>
            <a:pPr fontAlgn="base"/>
            <a:endParaRPr lang="en-US" sz="1600" b="1" dirty="0"/>
          </a:p>
          <a:p>
            <a:pPr fontAlgn="base"/>
            <a:r>
              <a:rPr lang="en-US" dirty="0"/>
              <a:t>• Academic Content Simplification – Convert complex academic text into simpler and more understandable language.</a:t>
            </a:r>
          </a:p>
          <a:p>
            <a:pPr fontAlgn="base"/>
            <a:r>
              <a:rPr lang="en-US" dirty="0"/>
              <a:t>• Learner-Level Adaptation – Reframe explanations according to the learner's proficiency level, such as Beginner or Advanced.</a:t>
            </a:r>
          </a:p>
          <a:p>
            <a:pPr fontAlgn="base"/>
            <a:r>
              <a:rPr lang="en-US" dirty="0"/>
              <a:t>• Clear Concept Explanation – Reduce technical jargon and present important concepts in a structured and accessible manner.</a:t>
            </a:r>
          </a:p>
          <a:p>
            <a:pPr fontAlgn="base"/>
            <a:r>
              <a:rPr lang="en-US" dirty="0"/>
              <a:t>• Improved Learning Accessibility – Help students from different educational backgrounds understand academic material more independently.</a:t>
            </a:r>
          </a:p>
          <a:p>
            <a:pPr fontAlgn="base"/>
            <a:r>
              <a:rPr lang="en-US" dirty="0"/>
              <a:t>• AI-Powered Processing – Use IBM Granite through IBM watsonx.ai to analyze and simplify the provided academic content.</a:t>
            </a:r>
          </a:p>
          <a:p>
            <a:pPr fontAlgn="base"/>
            <a:r>
              <a:rPr lang="en-US" dirty="0"/>
              <a:t>• User-Friendly Interface – Provide a simple web interface where users can enter academic content, select their learning level, and receive a simplified explanation.</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162764"/>
            <a:ext cx="7214616" cy="461665"/>
          </a:xfrm>
          <a:prstGeom prst="rect">
            <a:avLst/>
          </a:prstGeom>
          <a:noFill/>
        </p:spPr>
        <p:txBody>
          <a:bodyPr wrap="square" rtlCol="0">
            <a:spAutoFit/>
          </a:bodyPr>
          <a:lstStyle/>
          <a:p>
            <a:r>
              <a:rPr lang="en-US" sz="2400" b="1" dirty="0"/>
              <a:t>Problem Statement</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230832"/>
            <a:ext cx="10607040" cy="6771084"/>
          </a:xfrm>
          <a:prstGeom prst="rect">
            <a:avLst/>
          </a:prstGeom>
          <a:noFill/>
        </p:spPr>
        <p:txBody>
          <a:bodyPr wrap="square" rtlCol="0">
            <a:spAutoFit/>
          </a:bodyPr>
          <a:lstStyle/>
          <a:p>
            <a:pPr fontAlgn="base"/>
            <a:endParaRPr lang="en-US" dirty="0"/>
          </a:p>
          <a:p>
            <a:r>
              <a:rPr lang="en-US" dirty="0"/>
              <a:t>Proposed Solution: AI-Powered Course Content Simplification Agent</a:t>
            </a:r>
          </a:p>
          <a:p>
            <a:endParaRPr lang="en-US" dirty="0"/>
          </a:p>
          <a:p>
            <a:r>
              <a:rPr lang="en-US" dirty="0"/>
              <a:t>The proposed solution is an AI-powered Course Content Simplification Agent built using IBM Bob, IBM watsonx.ai, and IBM Granite to help students understand complex academic content more easily. The system transforms technical and jargon-heavy educational material into clear, concise, and learner-friendly explanations.</a:t>
            </a:r>
          </a:p>
          <a:p>
            <a:endParaRPr lang="en-US" dirty="0"/>
          </a:p>
          <a:p>
            <a:r>
              <a:rPr lang="en-US" dirty="0"/>
              <a:t>At its core, the solution uses the IBM Granite foundation model through watsonx.ai to analyze academic content provided by the user and generate simplified explanations based on the learner's proficiency level. This allows the same academic content to be presented at different levels of complexity.</a:t>
            </a:r>
          </a:p>
          <a:p>
            <a:endParaRPr lang="en-US" dirty="0"/>
          </a:p>
          <a:p>
            <a:r>
              <a:rPr lang="en-US" dirty="0"/>
              <a:t>The system provides a simple and user-friendly web interface where students can:</a:t>
            </a:r>
          </a:p>
          <a:p>
            <a:r>
              <a:rPr lang="en-US" dirty="0"/>
              <a:t>• Enter academic content such as textbook paragraphs, lecture notes, or study material.</a:t>
            </a:r>
          </a:p>
          <a:p>
            <a:r>
              <a:rPr lang="en-US" dirty="0"/>
              <a:t>• Select a learner level, such as Beginner or Advanced.</a:t>
            </a:r>
          </a:p>
          <a:p>
            <a:r>
              <a:rPr lang="en-US" dirty="0"/>
              <a:t>• Submit the content for AI-powered simplification.</a:t>
            </a:r>
          </a:p>
          <a:p>
            <a:r>
              <a:rPr lang="en-US" dirty="0"/>
              <a:t>• Receive a clear and easy-to-understand explanation while preserving the important concepts.</a:t>
            </a:r>
          </a:p>
          <a:p>
            <a:endParaRPr lang="en-US" dirty="0"/>
          </a:p>
          <a:p>
            <a:r>
              <a:rPr lang="en-US" dirty="0"/>
              <a:t>The Flask-based backend processes the user's input and communicates with IBM watsonx.ai using the IBM Granite model. The selected learner level is included in the request so that Granite can adapt the vocabulary, explanation depth, and complexity of the generated response.</a:t>
            </a:r>
          </a:p>
          <a:p>
            <a:endParaRPr lang="en-US" dirty="0"/>
          </a:p>
          <a:p>
            <a:r>
              <a:rPr lang="en-US" dirty="0"/>
              <a:t>The solution is designed with a lightweight architecture consisting of a web interface, Flask backend, and IBM watsonx.ai Granite model. No database or complex external infrastructure is required, making the system simple, accessible, and easy to demonstrate.</a:t>
            </a:r>
          </a:p>
          <a:p>
            <a:endParaRPr lang="en-US" dirty="0"/>
          </a:p>
          <a:p>
            <a:r>
              <a:rPr lang="en-US" dirty="0"/>
              <a:t>IBM Bob is used as the AI-assisted development environment for building and organizing the application, while IBM watsonx.ai provides access to the Granite foundation model for content simplification.</a:t>
            </a:r>
          </a:p>
          <a:p>
            <a:endParaRPr lang="en-US" dirty="0"/>
          </a:p>
          <a:p>
            <a:r>
              <a:rPr lang="en-US" dirty="0"/>
              <a:t>Overall, the solution provides an accessible AI learning assistant that helps students overcome technical language barriers and understand academic concepts more effectively through level-based content simplification.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0"/>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endParaRPr lang="en-US" sz="1800" b="1" dirty="0"/>
          </a:p>
          <a:p>
            <a:r>
              <a:rPr lang="en-US" sz="1800" dirty="0"/>
              <a:t>• </a:t>
            </a:r>
            <a:r>
              <a:rPr lang="en-US" sz="1800" b="1" dirty="0"/>
              <a:t>IBM Bob </a:t>
            </a:r>
            <a:r>
              <a:rPr lang="en-US" sz="1800" dirty="0"/>
              <a:t>– AI-assisted development environment used for planning and developing the application.</a:t>
            </a:r>
          </a:p>
          <a:p>
            <a:endParaRPr lang="en-US" sz="1800" dirty="0"/>
          </a:p>
          <a:p>
            <a:r>
              <a:rPr lang="en-US" sz="1800" dirty="0"/>
              <a:t>• </a:t>
            </a:r>
            <a:r>
              <a:rPr lang="en-US" sz="1800" b="1" dirty="0"/>
              <a:t>IBM Granite 4 H Small </a:t>
            </a:r>
            <a:r>
              <a:rPr lang="en-US" sz="1800" dirty="0"/>
              <a:t>– Foundation model used to analyze academic content and generate learner-level simplified explanations.</a:t>
            </a:r>
          </a:p>
          <a:p>
            <a:pPr marL="285750" indent="-285750">
              <a:buFont typeface="Arial" panose="020B0604020202020204" pitchFamily="34" charset="0"/>
              <a:buChar char="•"/>
            </a:pPr>
            <a:endParaRPr lang="en-US" sz="1800" dirty="0"/>
          </a:p>
          <a:p>
            <a:r>
              <a:rPr lang="en-US" sz="1800" dirty="0"/>
              <a:t>• </a:t>
            </a:r>
            <a:r>
              <a:rPr lang="en-US" sz="1800" b="1" dirty="0"/>
              <a:t>IBM watsonx.ai </a:t>
            </a:r>
            <a:r>
              <a:rPr lang="en-US" sz="1800" dirty="0"/>
              <a:t>– Platform used to access and run the IBM Granite model.</a:t>
            </a:r>
          </a:p>
          <a:p>
            <a:pPr marL="285750" indent="-285750">
              <a:buFont typeface="Arial" panose="020B0604020202020204" pitchFamily="34" charset="0"/>
              <a:buChar char="•"/>
            </a:pPr>
            <a:endParaRPr lang="en-US" sz="1800" dirty="0"/>
          </a:p>
          <a:p>
            <a:r>
              <a:rPr lang="en-US" sz="1800" dirty="0"/>
              <a:t>• </a:t>
            </a:r>
            <a:r>
              <a:rPr lang="en-US" sz="1800" b="1" dirty="0"/>
              <a:t>IBM Cloud </a:t>
            </a:r>
            <a:r>
              <a:rPr lang="en-US" sz="1800" dirty="0"/>
              <a:t>– Provides the cloud infrastructure and watsonx.ai Runtime for AI model access.</a:t>
            </a:r>
          </a:p>
          <a:p>
            <a:pPr marL="285750" indent="-285750">
              <a:buFont typeface="Arial" panose="020B0604020202020204" pitchFamily="34" charset="0"/>
              <a:buChar char="•"/>
            </a:pPr>
            <a:endParaRPr lang="en-US" sz="1800" dirty="0"/>
          </a:p>
          <a:p>
            <a:r>
              <a:rPr lang="en-US" sz="1800" dirty="0"/>
              <a:t>• </a:t>
            </a:r>
            <a:r>
              <a:rPr lang="en-US" sz="1800" b="1" dirty="0"/>
              <a:t>Python &amp; Flask </a:t>
            </a:r>
            <a:r>
              <a:rPr lang="en-US" sz="1800" dirty="0"/>
              <a:t>– Used to develop the backend and connect the web application with IBM watsonx.ai.</a:t>
            </a:r>
          </a:p>
          <a:p>
            <a:pPr marL="285750" indent="-285750">
              <a:buFont typeface="Arial" panose="020B0604020202020204" pitchFamily="34" charset="0"/>
              <a:buChar char="•"/>
            </a:pPr>
            <a:endParaRPr lang="en-US" sz="1800" dirty="0"/>
          </a:p>
          <a:p>
            <a:r>
              <a:rPr lang="en-US" sz="1800" dirty="0"/>
              <a:t>• </a:t>
            </a:r>
            <a:r>
              <a:rPr lang="en-US" sz="1800" b="1" dirty="0"/>
              <a:t>HTML &amp; CSS </a:t>
            </a:r>
            <a:r>
              <a:rPr lang="en-US" sz="1800" dirty="0"/>
              <a:t>– Used to build the user interface for entering content, selecting learner level, and displaying results.</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F4407F0-7CA8-EB34-2EFE-A142AA85FB55}"/>
              </a:ext>
            </a:extLst>
          </p:cNvPr>
          <p:cNvPicPr>
            <a:picLocks noChangeAspect="1"/>
          </p:cNvPicPr>
          <p:nvPr/>
        </p:nvPicPr>
        <p:blipFill>
          <a:blip r:embed="rId3"/>
          <a:stretch>
            <a:fillRect/>
          </a:stretch>
        </p:blipFill>
        <p:spPr>
          <a:xfrm>
            <a:off x="2701478" y="1102454"/>
            <a:ext cx="9350105" cy="499110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187071" y="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11" name="Picture 10">
            <a:extLst>
              <a:ext uri="{FF2B5EF4-FFF2-40B4-BE49-F238E27FC236}">
                <a16:creationId xmlns:a16="http://schemas.microsoft.com/office/drawing/2014/main" id="{A7C67A96-0640-8B1E-AA9D-DCD59F82FCE7}"/>
              </a:ext>
            </a:extLst>
          </p:cNvPr>
          <p:cNvPicPr>
            <a:picLocks noChangeAspect="1"/>
          </p:cNvPicPr>
          <p:nvPr/>
        </p:nvPicPr>
        <p:blipFill>
          <a:blip r:embed="rId3"/>
          <a:stretch>
            <a:fillRect/>
          </a:stretch>
        </p:blipFill>
        <p:spPr>
          <a:xfrm>
            <a:off x="687627" y="796464"/>
            <a:ext cx="10685069" cy="570371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A77413-8F00-4476-CCC0-9A70DA353EF7}"/>
              </a:ext>
            </a:extLst>
          </p:cNvPr>
          <p:cNvPicPr>
            <a:picLocks noChangeAspect="1"/>
          </p:cNvPicPr>
          <p:nvPr/>
        </p:nvPicPr>
        <p:blipFill>
          <a:blip r:embed="rId2"/>
          <a:stretch>
            <a:fillRect/>
          </a:stretch>
        </p:blipFill>
        <p:spPr>
          <a:xfrm>
            <a:off x="523302" y="456459"/>
            <a:ext cx="11145396" cy="594508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484539" y="228141"/>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1B8211B4-F91C-5BDE-0314-B28B779B43D4}"/>
              </a:ext>
            </a:extLst>
          </p:cNvPr>
          <p:cNvPicPr>
            <a:picLocks noChangeAspect="1"/>
          </p:cNvPicPr>
          <p:nvPr/>
        </p:nvPicPr>
        <p:blipFill>
          <a:blip r:embed="rId3"/>
          <a:stretch>
            <a:fillRect/>
          </a:stretch>
        </p:blipFill>
        <p:spPr>
          <a:xfrm>
            <a:off x="3439004" y="676649"/>
            <a:ext cx="5313991" cy="6086253"/>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96113"/>
            <a:ext cx="7406640" cy="5262979"/>
          </a:xfrm>
          <a:prstGeom prst="rect">
            <a:avLst/>
          </a:prstGeom>
          <a:noFill/>
        </p:spPr>
        <p:txBody>
          <a:bodyPr wrap="square" rtlCol="0">
            <a:spAutoFit/>
          </a:bodyPr>
          <a:lstStyle/>
          <a:p>
            <a:r>
              <a:rPr lang="en-US" b="1" dirty="0"/>
              <a:t>Role of Agentic AI in the Course Content Simplification Agent</a:t>
            </a:r>
          </a:p>
          <a:p>
            <a:endParaRPr lang="en-US" dirty="0"/>
          </a:p>
          <a:p>
            <a:r>
              <a:rPr lang="en-US" dirty="0"/>
              <a:t>Agentic AI enables the Course Content Simplification Agent to intelligently process academic content and adapt its response according to the learner's selected proficiency level. Using IBM watsonx.ai and the IBM Granite foundation model, the system transforms complex academic material into clear and learner-friendly explanations.</a:t>
            </a:r>
          </a:p>
          <a:p>
            <a:endParaRPr lang="en-US" dirty="0"/>
          </a:p>
          <a:p>
            <a:r>
              <a:rPr lang="en-US" dirty="0"/>
              <a:t>The agent accepts academic text from the user and analyzes its context and complexity before generating the response. Based on the selected level, such as Beginner or Advanced, it adjusts the vocabulary, explanation depth, and complexity of the generated content.</a:t>
            </a:r>
          </a:p>
          <a:p>
            <a:endParaRPr lang="en-US" dirty="0"/>
          </a:p>
          <a:p>
            <a:r>
              <a:rPr lang="en-US" dirty="0"/>
              <a:t>For beginner learners, the agent focuses on simple language and easy-to-understand explanations, while advanced learners receive responses that retain greater technical depth. This allows the same academic material to be personalized for different levels of prior knowledge.</a:t>
            </a:r>
          </a:p>
          <a:p>
            <a:endParaRPr lang="en-US" dirty="0"/>
          </a:p>
          <a:p>
            <a:r>
              <a:rPr lang="en-US" dirty="0"/>
              <a:t>The agent also presents the generated information in a structured and readable format, helping learners identify important concepts and key points while reducing unnecessary technical jargon.</a:t>
            </a:r>
          </a:p>
          <a:p>
            <a:endParaRPr lang="en-US" dirty="0"/>
          </a:p>
          <a:p>
            <a:r>
              <a:rPr lang="en-US" dirty="0"/>
              <a:t>Overall, Agentic AI makes the solution an intelligent and adaptive learning assistant that helps students understand complex academic content more effectively and supports personalized learning.</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1519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4" name="Picture 3">
            <a:extLst>
              <a:ext uri="{FF2B5EF4-FFF2-40B4-BE49-F238E27FC236}">
                <a16:creationId xmlns:a16="http://schemas.microsoft.com/office/drawing/2014/main" id="{0E41B8C9-63FB-9C22-76B5-55E391B057AF}"/>
              </a:ext>
            </a:extLst>
          </p:cNvPr>
          <p:cNvPicPr>
            <a:picLocks noChangeAspect="1"/>
          </p:cNvPicPr>
          <p:nvPr/>
        </p:nvPicPr>
        <p:blipFill>
          <a:blip r:embed="rId3"/>
          <a:stretch>
            <a:fillRect/>
          </a:stretch>
        </p:blipFill>
        <p:spPr>
          <a:xfrm>
            <a:off x="301679" y="2486334"/>
            <a:ext cx="5562595" cy="2962805"/>
          </a:xfrm>
          <a:prstGeom prst="rect">
            <a:avLst/>
          </a:prstGeom>
        </p:spPr>
      </p:pic>
      <p:pic>
        <p:nvPicPr>
          <p:cNvPr id="8" name="Picture 7">
            <a:extLst>
              <a:ext uri="{FF2B5EF4-FFF2-40B4-BE49-F238E27FC236}">
                <a16:creationId xmlns:a16="http://schemas.microsoft.com/office/drawing/2014/main" id="{AD66542E-D90B-102A-4015-7A00CA0FE087}"/>
              </a:ext>
            </a:extLst>
          </p:cNvPr>
          <p:cNvPicPr>
            <a:picLocks noChangeAspect="1"/>
          </p:cNvPicPr>
          <p:nvPr/>
        </p:nvPicPr>
        <p:blipFill>
          <a:blip r:embed="rId4"/>
          <a:stretch>
            <a:fillRect/>
          </a:stretch>
        </p:blipFill>
        <p:spPr>
          <a:xfrm>
            <a:off x="6327728" y="2486334"/>
            <a:ext cx="5574866" cy="2962805"/>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 name="Picture 6">
            <a:extLst>
              <a:ext uri="{FF2B5EF4-FFF2-40B4-BE49-F238E27FC236}">
                <a16:creationId xmlns:a16="http://schemas.microsoft.com/office/drawing/2014/main" id="{2C28F651-BC79-BBDE-079E-9C707C5AC6CF}"/>
              </a:ext>
            </a:extLst>
          </p:cNvPr>
          <p:cNvPicPr>
            <a:picLocks noChangeAspect="1"/>
          </p:cNvPicPr>
          <p:nvPr/>
        </p:nvPicPr>
        <p:blipFill>
          <a:blip r:embed="rId3"/>
          <a:stretch>
            <a:fillRect/>
          </a:stretch>
        </p:blipFill>
        <p:spPr>
          <a:xfrm>
            <a:off x="409144" y="909831"/>
            <a:ext cx="10447832" cy="555258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F9D7EEB1-59C1-57D1-BFAD-23F7D71A9087}"/>
              </a:ext>
            </a:extLst>
          </p:cNvPr>
          <p:cNvPicPr>
            <a:picLocks noChangeAspect="1"/>
          </p:cNvPicPr>
          <p:nvPr/>
        </p:nvPicPr>
        <p:blipFill>
          <a:blip r:embed="rId3"/>
          <a:stretch>
            <a:fillRect/>
          </a:stretch>
        </p:blipFill>
        <p:spPr>
          <a:xfrm>
            <a:off x="409144" y="816977"/>
            <a:ext cx="10564132" cy="562677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8AA33878-3E74-90D5-E18B-FB4551E0AAAD}"/>
              </a:ext>
            </a:extLst>
          </p:cNvPr>
          <p:cNvPicPr>
            <a:picLocks noChangeAspect="1"/>
          </p:cNvPicPr>
          <p:nvPr/>
        </p:nvPicPr>
        <p:blipFill>
          <a:blip r:embed="rId3"/>
          <a:stretch>
            <a:fillRect/>
          </a:stretch>
        </p:blipFill>
        <p:spPr>
          <a:xfrm>
            <a:off x="409143" y="816977"/>
            <a:ext cx="11374325" cy="567160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D42418-B026-3C5F-D320-F2B4053CB07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16EB23B-8D43-6168-3E4C-EE325091D1C3}"/>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 : </a:t>
            </a:r>
            <a:r>
              <a:rPr lang="en-US" sz="2400" dirty="0">
                <a:sym typeface="Times New Roman"/>
              </a:rPr>
              <a:t>Prompt 2</a:t>
            </a:r>
            <a:endParaRPr sz="2400" dirty="0">
              <a:sym typeface="Times New Roman"/>
            </a:endParaRPr>
          </a:p>
        </p:txBody>
      </p:sp>
      <p:sp>
        <p:nvSpPr>
          <p:cNvPr id="280" name="Google Shape;280;p18">
            <a:extLst>
              <a:ext uri="{FF2B5EF4-FFF2-40B4-BE49-F238E27FC236}">
                <a16:creationId xmlns:a16="http://schemas.microsoft.com/office/drawing/2014/main" id="{7554B011-7CD2-5DBF-82FA-8CFEB969FE0B}"/>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3BF37FE-4249-1D79-0D25-6033BCE3E9C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04B9A05-4D1F-64DA-2604-488E4C18BAA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485F4F0C-F3BE-05F1-6EB3-AC9D9837C65D}"/>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3D9021F-7CD5-A48D-574A-9F42B237D420}"/>
              </a:ext>
            </a:extLst>
          </p:cNvPr>
          <p:cNvPicPr>
            <a:picLocks noChangeAspect="1"/>
          </p:cNvPicPr>
          <p:nvPr/>
        </p:nvPicPr>
        <p:blipFill>
          <a:blip r:embed="rId3"/>
          <a:stretch>
            <a:fillRect/>
          </a:stretch>
        </p:blipFill>
        <p:spPr>
          <a:xfrm>
            <a:off x="409144" y="818551"/>
            <a:ext cx="10512450" cy="5352763"/>
          </a:xfrm>
          <a:prstGeom prst="rect">
            <a:avLst/>
          </a:prstGeom>
        </p:spPr>
      </p:pic>
    </p:spTree>
    <p:extLst>
      <p:ext uri="{BB962C8B-B14F-4D97-AF65-F5344CB8AC3E}">
        <p14:creationId xmlns:p14="http://schemas.microsoft.com/office/powerpoint/2010/main" val="3371141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23AE10C-1DC2-B822-4E47-42545EEEBB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3A89A5A-3780-5AAA-AF22-7117D33735F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967DB634-C95A-1898-6672-BFDA06B43EE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B812538-33DD-AFF6-D371-4111BF539A2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A6C85E3-71AC-29C8-4DC5-429E877AE02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981F573-53C4-FBA7-0108-3D00FA6D5E71}"/>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08D58C21-288D-2421-E19A-4280DB56ED1F}"/>
              </a:ext>
            </a:extLst>
          </p:cNvPr>
          <p:cNvPicPr>
            <a:picLocks noChangeAspect="1"/>
          </p:cNvPicPr>
          <p:nvPr/>
        </p:nvPicPr>
        <p:blipFill>
          <a:blip r:embed="rId3"/>
          <a:stretch>
            <a:fillRect/>
          </a:stretch>
        </p:blipFill>
        <p:spPr>
          <a:xfrm>
            <a:off x="409144" y="816977"/>
            <a:ext cx="10679644" cy="5671605"/>
          </a:xfrm>
          <a:prstGeom prst="rect">
            <a:avLst/>
          </a:prstGeom>
        </p:spPr>
      </p:pic>
    </p:spTree>
    <p:extLst>
      <p:ext uri="{BB962C8B-B14F-4D97-AF65-F5344CB8AC3E}">
        <p14:creationId xmlns:p14="http://schemas.microsoft.com/office/powerpoint/2010/main" val="954320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02182"/>
            <a:ext cx="11301984" cy="6124754"/>
          </a:xfrm>
          <a:prstGeom prst="rect">
            <a:avLst/>
          </a:prstGeom>
          <a:noFill/>
        </p:spPr>
        <p:txBody>
          <a:bodyPr wrap="square" rtlCol="0">
            <a:spAutoFit/>
          </a:bodyPr>
          <a:lstStyle/>
          <a:p>
            <a:r>
              <a:rPr lang="en-IN" sz="1800" dirty="0"/>
              <a:t>The proposed </a:t>
            </a:r>
            <a:r>
              <a:rPr lang="en-IN" sz="1800" b="1" dirty="0"/>
              <a:t>Course Content Simplification Agent</a:t>
            </a:r>
            <a:r>
              <a:rPr lang="en-IN" sz="1800" dirty="0"/>
              <a:t> stands out by combining </a:t>
            </a:r>
            <a:r>
              <a:rPr lang="en-IN" sz="1800" b="1" dirty="0"/>
              <a:t>Agentic AI, learner-level adaptation, and IBM Granite</a:t>
            </a:r>
            <a:r>
              <a:rPr lang="en-IN" sz="1800" dirty="0"/>
              <a:t> to transform complex academic material into clear and accessible explanations.</a:t>
            </a:r>
          </a:p>
          <a:p>
            <a:r>
              <a:rPr lang="en-IN" sz="1800" b="1" dirty="0"/>
              <a:t>Learner-Level Adaptation</a:t>
            </a:r>
            <a:r>
              <a:rPr lang="en-IN" sz="1800" dirty="0"/>
              <a:t> – Adjusts the language, explanation depth, and technical complexity according to the selected proficiency level, such as Beginner or Advanced.</a:t>
            </a:r>
          </a:p>
          <a:p>
            <a:r>
              <a:rPr lang="en-IN" sz="1800" b="1" dirty="0"/>
              <a:t>Academic Content Simplification</a:t>
            </a:r>
            <a:r>
              <a:rPr lang="en-IN" sz="1800" dirty="0"/>
              <a:t> – Converts complex, jargon-heavy academic material into simpler and more understandable language while preserving important concepts.</a:t>
            </a:r>
          </a:p>
          <a:p>
            <a:r>
              <a:rPr lang="en-IN" sz="1800" b="1" dirty="0"/>
              <a:t>Personalized Learning Experience</a:t>
            </a:r>
            <a:r>
              <a:rPr lang="en-IN" sz="1800" dirty="0"/>
              <a:t> – Presents the same academic content differently based on the learner's prior knowledge and selected learning level.</a:t>
            </a:r>
          </a:p>
          <a:p>
            <a:r>
              <a:rPr lang="en-IN" sz="1800" b="1" dirty="0"/>
              <a:t>Clear Concept Extraction</a:t>
            </a:r>
            <a:r>
              <a:rPr lang="en-IN" sz="1800" dirty="0"/>
              <a:t> – Identifies and presents important concepts and key points in a structured format, making difficult topics easier to study and remember.</a:t>
            </a:r>
          </a:p>
          <a:p>
            <a:r>
              <a:rPr lang="en-IN" sz="1800" b="1" dirty="0"/>
              <a:t>Digestible AI-Generated Output</a:t>
            </a:r>
            <a:r>
              <a:rPr lang="en-IN" sz="1800" dirty="0"/>
              <a:t> – Produces concise explanations and summaries that help students understand lengthy or complicated course material more efficiently.</a:t>
            </a:r>
          </a:p>
          <a:p>
            <a:r>
              <a:rPr lang="en-IN" sz="1800" b="1" dirty="0"/>
              <a:t>Accessibility for Diverse Learners</a:t>
            </a:r>
            <a:r>
              <a:rPr lang="en-IN" sz="1800" dirty="0"/>
              <a:t> – Helps students, particularly first-generation and non-English-medium learners, overcome technical language barriers and understand academic content more independently.</a:t>
            </a:r>
          </a:p>
          <a:p>
            <a:r>
              <a:rPr lang="en-IN" sz="1800" b="1" dirty="0"/>
              <a:t>IBM Granite Powered</a:t>
            </a:r>
            <a:r>
              <a:rPr lang="en-IN" sz="1800" dirty="0"/>
              <a:t> – Uses </a:t>
            </a:r>
            <a:r>
              <a:rPr lang="en-IN" sz="1800" b="1" dirty="0"/>
              <a:t>IBM Granite through IBM watsonx.ai</a:t>
            </a:r>
            <a:r>
              <a:rPr lang="en-IN" sz="1800" dirty="0"/>
              <a:t> to </a:t>
            </a:r>
            <a:r>
              <a:rPr lang="en-IN" sz="1800" dirty="0" err="1"/>
              <a:t>analyze</a:t>
            </a:r>
            <a:r>
              <a:rPr lang="en-IN" sz="1800" dirty="0"/>
              <a:t> academic content and generate learner-friendly explanations.</a:t>
            </a:r>
          </a:p>
          <a:p>
            <a:r>
              <a:rPr lang="en-IN" sz="1800" b="1" dirty="0"/>
              <a:t>Simple &amp; Scalable Architecture</a:t>
            </a:r>
            <a:r>
              <a:rPr lang="en-IN" sz="1800" dirty="0"/>
              <a:t> – Built with </a:t>
            </a:r>
            <a:r>
              <a:rPr lang="en-IN" sz="1800" b="1" dirty="0"/>
              <a:t>Python, Flask, HTML, CSS, IBM watsonx.ai, and IBM Granite</a:t>
            </a:r>
            <a:r>
              <a:rPr lang="en-IN" sz="1800" dirty="0"/>
              <a:t>, keeping the solution lightweight while allowing it to be demonstrated and extended easily.</a:t>
            </a:r>
          </a:p>
          <a:p>
            <a:r>
              <a:rPr lang="en-IN" sz="1800" dirty="0"/>
              <a:t>This makes the solution a </a:t>
            </a:r>
            <a:r>
              <a:rPr lang="en-IN" sz="1800" b="1" dirty="0"/>
              <a:t>smart, adaptive, and accessible learning assistant</a:t>
            </a:r>
            <a:r>
              <a:rPr lang="en-IN" sz="1800" dirty="0"/>
              <a:t>, rather than just a basic text summarization tool.</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https://github.com/sreegovindsubhash/course-content-simplification-agent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Multilingual Academic Content Support –</a:t>
            </a:r>
            <a:br>
              <a:rPr lang="en-IN" sz="2000" dirty="0"/>
            </a:br>
            <a:r>
              <a:rPr lang="en-IN" sz="2000" dirty="0"/>
              <a:t>The system can be extended to support multiple languages, allowing students to simplify academic content in their preferred language. This can improve accessibility for learners from diverse linguistic backgrounds and help reduce language barriers in education.</a:t>
            </a:r>
          </a:p>
          <a:p>
            <a:r>
              <a:rPr lang="en-IN" sz="2000" b="1" dirty="0"/>
              <a:t>2. Voice-Based Learning Assistance –</a:t>
            </a:r>
            <a:br>
              <a:rPr lang="en-IN" sz="2000" dirty="0"/>
            </a:br>
            <a:r>
              <a:rPr lang="en-IN" sz="2000" dirty="0"/>
              <a:t>A voice-enabled feature can be added to allow students to provide academic content and receive explanations through voice interaction. This can make the solution more convenient and accessible for students who prefer spoken learning.</a:t>
            </a:r>
          </a:p>
          <a:p>
            <a:r>
              <a:rPr lang="en-IN" sz="2000" b="1" dirty="0"/>
              <a:t>3. Personalized Learning Recommendations –</a:t>
            </a:r>
            <a:br>
              <a:rPr lang="en-IN" sz="2000" dirty="0"/>
            </a:br>
            <a:r>
              <a:rPr lang="en-IN" sz="2000" dirty="0"/>
              <a:t>The agent can be enhanced to understand a learner's previous interactions and preferred difficulty level, providing more personalized explanations and learning recommendations over time.</a:t>
            </a:r>
          </a:p>
          <a:p>
            <a:r>
              <a:rPr lang="en-IN" sz="2000" b="1" dirty="0"/>
              <a:t>4. Support for Multiple Academic Formats –</a:t>
            </a:r>
            <a:br>
              <a:rPr lang="en-IN" sz="2000" dirty="0"/>
            </a:br>
            <a:r>
              <a:rPr lang="en-IN" sz="2000" dirty="0"/>
              <a:t>Future versions can support additional content formats such as PDFs, documents, presentations, and scanned study materials, allowing students to simplify larger portions of their course material.</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D08A51B2-3504-90D8-4002-65AC5705D7AE}"/>
              </a:ext>
            </a:extLst>
          </p:cNvPr>
          <p:cNvPicPr>
            <a:picLocks noChangeAspect="1"/>
          </p:cNvPicPr>
          <p:nvPr/>
        </p:nvPicPr>
        <p:blipFill>
          <a:blip r:embed="rId2"/>
          <a:stretch>
            <a:fillRect/>
          </a:stretch>
        </p:blipFill>
        <p:spPr>
          <a:xfrm>
            <a:off x="2607432" y="1151726"/>
            <a:ext cx="6977135" cy="515567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9ED27860-86F5-E624-DB99-72FC81659ECA}"/>
              </a:ext>
            </a:extLst>
          </p:cNvPr>
          <p:cNvPicPr>
            <a:picLocks noChangeAspect="1"/>
          </p:cNvPicPr>
          <p:nvPr/>
        </p:nvPicPr>
        <p:blipFill>
          <a:blip r:embed="rId2"/>
          <a:stretch>
            <a:fillRect/>
          </a:stretch>
        </p:blipFill>
        <p:spPr>
          <a:xfrm>
            <a:off x="1070747" y="903499"/>
            <a:ext cx="10050506" cy="568571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1584</Words>
  <Application>Microsoft Office PowerPoint</Application>
  <PresentationFormat>Widescreen</PresentationFormat>
  <Paragraphs>162</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Waffles 1154</cp:lastModifiedBy>
  <cp:revision>9</cp:revision>
  <dcterms:created xsi:type="dcterms:W3CDTF">2025-07-08T05:06:56Z</dcterms:created>
  <dcterms:modified xsi:type="dcterms:W3CDTF">2026-09-09T18:00:19Z</dcterms:modified>
</cp:coreProperties>
</file>